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b0dad28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b0dad28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b0dad28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b0dad28d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b0dad28d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b0dad28d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b0dad28d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b0dad28d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b0dad28d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b0dad28d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b0dad28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b0dad28d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b0dad28d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b0dad28d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b0dad28d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5b0dad28d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5b0dad28d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5b0dad28d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b0dad28d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b0dad28d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5b0dad28d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5b0dad28d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5b0dad28d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5b0dad28d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b0dad28d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b0dad28d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b0dad28d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b0dad28d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b0dad28d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b0dad28d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5b0dad28d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5b0dad28d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5b0dad28d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5b0dad28d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b0dad28d7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5b0dad28d7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b0dad28d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b0dad28d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b0dad28d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b0dad28d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b0dad28d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b0dad28d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b0dad28d7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b0dad28d7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api.noaa-ponds.org/v1/dat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1400"/>
              </a:spcAft>
              <a:buNone/>
            </a:pPr>
            <a:r>
              <a:rPr b="1" lang="en" sz="2900"/>
              <a:t>Federated Data Ponds for NOAA Web Services: </a:t>
            </a:r>
            <a:br>
              <a:rPr b="1" lang="en" sz="2900"/>
            </a:br>
            <a:r>
              <a:rPr b="1" lang="en" sz="2900"/>
              <a:t>A Unified AI-Assisted API Solution</a:t>
            </a:r>
            <a:endParaRPr b="1" sz="29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115000"/>
              </a:lnSpc>
              <a:spcBef>
                <a:spcPts val="900"/>
              </a:spcBef>
              <a:spcAft>
                <a:spcPts val="1400"/>
              </a:spcAft>
              <a:buNone/>
            </a:pPr>
            <a:r>
              <a:rPr lang="en" sz="2050">
                <a:solidFill>
                  <a:schemeClr val="dk1"/>
                </a:solidFill>
              </a:rPr>
              <a:t>Streamlining Data Access for Diverse Personas</a:t>
            </a:r>
            <a:endParaRPr sz="3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Agenda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lang="en" sz="1150">
                <a:solidFill>
                  <a:schemeClr val="dk1"/>
                </a:solidFill>
              </a:rPr>
              <a:t>Goal: Establish a federated system of data ponds for NOAA web services</a:t>
            </a:r>
            <a:endParaRPr sz="1150">
              <a:solidFill>
                <a:schemeClr val="dk1"/>
              </a:solidFill>
            </a:endParaRPr>
          </a:p>
          <a:p>
            <a:pPr indent="-301625" lvl="1" marL="914400" rtl="0" algn="l">
              <a:spcBef>
                <a:spcPts val="0"/>
              </a:spcBef>
              <a:spcAft>
                <a:spcPts val="0"/>
              </a:spcAft>
              <a:buClr>
                <a:schemeClr val="dk1"/>
              </a:buClr>
              <a:buSzPts val="1150"/>
              <a:buChar char="●"/>
            </a:pPr>
            <a:r>
              <a:rPr lang="en" sz="1150">
                <a:solidFill>
                  <a:schemeClr val="dk1"/>
                </a:solidFill>
              </a:rPr>
              <a:t>Analysis: Review of NOAA endpoints and data pond design</a:t>
            </a:r>
            <a:endParaRPr sz="1150">
              <a:solidFill>
                <a:schemeClr val="dk1"/>
              </a:solidFill>
            </a:endParaRPr>
          </a:p>
          <a:p>
            <a:pPr indent="-301625" lvl="1" marL="914400" rtl="0" algn="l">
              <a:spcBef>
                <a:spcPts val="0"/>
              </a:spcBef>
              <a:spcAft>
                <a:spcPts val="0"/>
              </a:spcAft>
              <a:buClr>
                <a:schemeClr val="dk1"/>
              </a:buClr>
              <a:buSzPts val="1150"/>
              <a:buChar char="●"/>
            </a:pPr>
            <a:r>
              <a:rPr lang="en" sz="1150">
                <a:solidFill>
                  <a:schemeClr val="dk1"/>
                </a:solidFill>
              </a:rPr>
              <a:t>Recommendation: Propose a federated API with AI layering across ponds</a:t>
            </a:r>
            <a:endParaRPr sz="1150">
              <a:solidFill>
                <a:schemeClr val="dk1"/>
              </a:solidFill>
            </a:endParaRPr>
          </a:p>
          <a:p>
            <a:pPr indent="-301625" lvl="1" marL="914400" rtl="0" algn="l">
              <a:spcBef>
                <a:spcPts val="0"/>
              </a:spcBef>
              <a:spcAft>
                <a:spcPts val="0"/>
              </a:spcAft>
              <a:buClr>
                <a:schemeClr val="dk1"/>
              </a:buClr>
              <a:buSzPts val="1150"/>
              <a:buChar char="●"/>
            </a:pPr>
            <a:r>
              <a:rPr lang="en" sz="1150">
                <a:solidFill>
                  <a:schemeClr val="dk1"/>
                </a:solidFill>
              </a:rPr>
              <a:t>Output: Deliver a unified API for personalized data access</a:t>
            </a:r>
            <a:endParaRPr sz="1150">
              <a:solidFill>
                <a:schemeClr val="dk1"/>
              </a:solidFill>
            </a:endParaRPr>
          </a:p>
          <a:p>
            <a:pPr indent="-301625" lvl="1" marL="914400" rtl="0" algn="l">
              <a:spcBef>
                <a:spcPts val="0"/>
              </a:spcBef>
              <a:spcAft>
                <a:spcPts val="0"/>
              </a:spcAft>
              <a:buClr>
                <a:schemeClr val="dk1"/>
              </a:buClr>
              <a:buSzPts val="1150"/>
              <a:buChar char="●"/>
            </a:pPr>
            <a:r>
              <a:rPr lang="en" sz="1150">
                <a:solidFill>
                  <a:schemeClr val="dk1"/>
                </a:solidFill>
              </a:rPr>
              <a:t>Example (Use Case): Demonstrate practical applications</a:t>
            </a:r>
            <a:endParaRPr sz="1150">
              <a:solidFill>
                <a:schemeClr val="dk1"/>
              </a:solidFill>
            </a:endParaRPr>
          </a:p>
          <a:p>
            <a:pPr indent="-301625" lvl="1" marL="914400" rtl="0" algn="l">
              <a:spcBef>
                <a:spcPts val="0"/>
              </a:spcBef>
              <a:spcAft>
                <a:spcPts val="0"/>
              </a:spcAft>
              <a:buClr>
                <a:schemeClr val="dk1"/>
              </a:buClr>
              <a:buSzPts val="1150"/>
              <a:buChar char="●"/>
            </a:pPr>
            <a:r>
              <a:rPr lang="en" sz="1150">
                <a:solidFill>
                  <a:schemeClr val="dk1"/>
                </a:solidFill>
              </a:rPr>
              <a:t>Approach #1 &amp; #2: Visualize the solution with updated diagrams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Goal: A Federated System of Data Ponds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b="1" lang="en" sz="1150">
                <a:solidFill>
                  <a:schemeClr val="dk1"/>
                </a:solidFill>
              </a:rPr>
              <a:t>Objective:</a:t>
            </a:r>
            <a:r>
              <a:rPr lang="en" sz="1150">
                <a:solidFill>
                  <a:schemeClr val="dk1"/>
                </a:solidFill>
              </a:rPr>
              <a:t> Organize NOAA’s 25 web service endpoints into data ponds by data type (e.g., Atmospheric, Oceanic) to enable efficient access for 12 personas, supporting NESDIS Storefront goals (REQ-NS-129, REQ-NS-156)</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Why Data Ponds?</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Fragmented endpoints (e.g., CDO API, GOES-19, SARSAT) with inconsistent formats (JSON, NetCDF, GeoJSON)</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Single data lake is complex; ponds offer modularity and performance</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Diverse persona needs: Dr. Samuel Ortiz (climate modeling), Alison Wright (media visuals), Claire Jansen (emergency planning)</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Solution:</a:t>
            </a:r>
            <a:r>
              <a:rPr lang="en" sz="1150">
                <a:solidFill>
                  <a:schemeClr val="dk1"/>
                </a:solidFill>
              </a:rPr>
              <a:t> Federated data ponds with a unified API, aligning with FAIR principles (NAO 212-15B) and human-centered design (REQ-NS-XXX)</a:t>
            </a:r>
            <a:br>
              <a:rPr lang="en" sz="1150">
                <a:solidFill>
                  <a:schemeClr val="dk1"/>
                </a:solidFill>
              </a:rPr>
            </a:br>
            <a:endParaRPr/>
          </a:p>
        </p:txBody>
      </p:sp>
      <p:pic>
        <p:nvPicPr>
          <p:cNvPr id="68" name="Google Shape;68;p15"/>
          <p:cNvPicPr preferRelativeResize="0"/>
          <p:nvPr/>
        </p:nvPicPr>
        <p:blipFill>
          <a:blip r:embed="rId3">
            <a:alphaModFix/>
          </a:blip>
          <a:stretch>
            <a:fillRect/>
          </a:stretch>
        </p:blipFill>
        <p:spPr>
          <a:xfrm>
            <a:off x="0" y="3425100"/>
            <a:ext cx="9144003" cy="1718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400"/>
              </a:spcAft>
              <a:buNone/>
            </a:pPr>
            <a:r>
              <a:rPr lang="en"/>
              <a:t>Analysis: NOAA Endpoints and Data Pond Design</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b="1" lang="en" sz="1150">
                <a:solidFill>
                  <a:schemeClr val="dk1"/>
                </a:solidFill>
              </a:rPr>
              <a:t>25 Endpoints (NESDIS, OSPO, NWS, NOS, NCEI, OAR):</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Atmospheric (12): CDO API, NWS API, GOES-19, MRMS, EMWIN, HURSAT, etc.</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Oceanic (4): Tides &amp; Currents API, OISST, MPSR, Jason Series</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Terrestrial (2): VIIRS, Argos DCS</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Spatial (2): CO-OPS GIS, SARSAT</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Multi-Type (3): NCEI API, GEONETCast</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Metadata (1): Repository API</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Restricted (7, overlapping): GOES DCS, SARSAT, EMWIN, etc.</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Formats:</a:t>
            </a:r>
            <a:r>
              <a:rPr lang="en" sz="1150">
                <a:solidFill>
                  <a:schemeClr val="dk1"/>
                </a:solidFill>
              </a:rPr>
              <a:t> JSON (1–10 KB), NetCDF (10 MB–1 GB), GeoJSON, BUFR, proprietary</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Traffic:</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Ingress: ~Tens TB/day (e.g., GOES-19 to Atmospheric Pond)</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Inter-Pond: ~1–10 TB/day</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Egress: 10–100 GB (Ortiz), 1–10 KB (Wright)</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Integration:</a:t>
            </a:r>
            <a:r>
              <a:rPr lang="en" sz="1150">
                <a:solidFill>
                  <a:schemeClr val="dk1"/>
                </a:solidFill>
              </a:rPr>
              <a:t> Supports NCCF and APIs (REQ-NS-156, REQ-NS-203)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78" name="Shape 78"/>
        <p:cNvGrpSpPr/>
        <p:nvPr/>
      </p:nvGrpSpPr>
      <p:grpSpPr>
        <a:xfrm>
          <a:off x="0" y="0"/>
          <a:ext cx="0" cy="0"/>
          <a:chOff x="0" y="0"/>
          <a:chExt cx="0" cy="0"/>
        </a:xfrm>
      </p:grpSpPr>
      <p:pic>
        <p:nvPicPr>
          <p:cNvPr id="79" name="Google Shape;79;p17" title="slide4.drawio.png"/>
          <p:cNvPicPr preferRelativeResize="0"/>
          <p:nvPr/>
        </p:nvPicPr>
        <p:blipFill>
          <a:blip r:embed="rId3">
            <a:alphaModFix/>
          </a:blip>
          <a:stretch>
            <a:fillRect/>
          </a:stretch>
        </p:blipFill>
        <p:spPr>
          <a:xfrm>
            <a:off x="1681163" y="847713"/>
            <a:ext cx="5781675" cy="4295775"/>
          </a:xfrm>
          <a:prstGeom prst="rect">
            <a:avLst/>
          </a:prstGeom>
          <a:noFill/>
          <a:ln>
            <a:noFill/>
          </a:ln>
        </p:spPr>
      </p:pic>
      <p:sp>
        <p:nvSpPr>
          <p:cNvPr id="80" name="Google Shape;80;p17"/>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1400"/>
              </a:spcAft>
              <a:buNone/>
            </a:pPr>
            <a:r>
              <a:rPr lang="en"/>
              <a:t>Analysis: NOAA Endpoints and Data Pond Design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Challenges and Pain Points</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b="1" lang="en" sz="1150">
                <a:solidFill>
                  <a:schemeClr val="dk1"/>
                </a:solidFill>
              </a:rPr>
              <a:t>Poor Metadata (Ortiz, Lin):</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Inconsistent schemas (e.g., CDO vs. NCEI)</a:t>
            </a:r>
            <a:endParaRPr sz="1150">
              <a:solidFill>
                <a:schemeClr val="dk1"/>
              </a:solidFill>
            </a:endParaRPr>
          </a:p>
          <a:p>
            <a:pPr indent="-301625" lvl="2" marL="1371600" rtl="0" algn="l">
              <a:spcBef>
                <a:spcPts val="0"/>
              </a:spcBef>
              <a:spcAft>
                <a:spcPts val="0"/>
              </a:spcAft>
              <a:buClr>
                <a:schemeClr val="dk1"/>
              </a:buClr>
              <a:buSzPts val="1150"/>
              <a:buChar char="●"/>
            </a:pPr>
            <a:r>
              <a:rPr b="1" lang="en" sz="1150">
                <a:solidFill>
                  <a:schemeClr val="dk1"/>
                </a:solidFill>
              </a:rPr>
              <a:t>Solution:</a:t>
            </a:r>
            <a:r>
              <a:rPr lang="en" sz="1150">
                <a:solidFill>
                  <a:schemeClr val="dk1"/>
                </a:solidFill>
              </a:rPr>
              <a:t> Pond-specific metadata catalogs (REQ-NS-137)</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Complex Filtering (Lin, Myers):</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Diverse formats</a:t>
            </a:r>
            <a:endParaRPr sz="1150">
              <a:solidFill>
                <a:schemeClr val="dk1"/>
              </a:solidFill>
            </a:endParaRPr>
          </a:p>
          <a:p>
            <a:pPr indent="-301625" lvl="2" marL="1371600" rtl="0" algn="l">
              <a:spcBef>
                <a:spcPts val="0"/>
              </a:spcBef>
              <a:spcAft>
                <a:spcPts val="0"/>
              </a:spcAft>
              <a:buClr>
                <a:schemeClr val="dk1"/>
              </a:buClr>
              <a:buSzPts val="1150"/>
              <a:buChar char="●"/>
            </a:pPr>
            <a:r>
              <a:rPr b="1" lang="en" sz="1150">
                <a:solidFill>
                  <a:schemeClr val="dk1"/>
                </a:solidFill>
              </a:rPr>
              <a:t>Solution:</a:t>
            </a:r>
            <a:r>
              <a:rPr lang="en" sz="1150">
                <a:solidFill>
                  <a:schemeClr val="dk1"/>
                </a:solidFill>
              </a:rPr>
              <a:t> Scoped queries to ponds (REQ-NS-135)</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Licensing Ambiguity (Myers, Stone):</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Unclear commercial terms</a:t>
            </a:r>
            <a:endParaRPr sz="1150">
              <a:solidFill>
                <a:schemeClr val="dk1"/>
              </a:solidFill>
            </a:endParaRPr>
          </a:p>
          <a:p>
            <a:pPr indent="-301625" lvl="2" marL="1371600" rtl="0" algn="l">
              <a:spcBef>
                <a:spcPts val="0"/>
              </a:spcBef>
              <a:spcAft>
                <a:spcPts val="0"/>
              </a:spcAft>
              <a:buClr>
                <a:schemeClr val="dk1"/>
              </a:buClr>
              <a:buSzPts val="1150"/>
              <a:buChar char="●"/>
            </a:pPr>
            <a:r>
              <a:rPr b="1" lang="en" sz="1150">
                <a:solidFill>
                  <a:schemeClr val="dk1"/>
                </a:solidFill>
              </a:rPr>
              <a:t>Solution:</a:t>
            </a:r>
            <a:r>
              <a:rPr lang="en" sz="1150">
                <a:solidFill>
                  <a:schemeClr val="dk1"/>
                </a:solidFill>
              </a:rPr>
              <a:t> Pond-level access controls (REQ-NS-174)</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Format Inconsistency (Lee, Wright):</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JSON vs. NetCDF vs. GeoJSON</a:t>
            </a:r>
            <a:endParaRPr sz="1150">
              <a:solidFill>
                <a:schemeClr val="dk1"/>
              </a:solidFill>
            </a:endParaRPr>
          </a:p>
          <a:p>
            <a:pPr indent="-301625" lvl="2" marL="1371600" rtl="0" algn="l">
              <a:spcBef>
                <a:spcPts val="0"/>
              </a:spcBef>
              <a:spcAft>
                <a:spcPts val="0"/>
              </a:spcAft>
              <a:buClr>
                <a:schemeClr val="dk1"/>
              </a:buClr>
              <a:buSzPts val="1150"/>
              <a:buChar char="●"/>
            </a:pPr>
            <a:r>
              <a:rPr b="1" lang="en" sz="1150">
                <a:solidFill>
                  <a:schemeClr val="dk1"/>
                </a:solidFill>
              </a:rPr>
              <a:t>Solution:</a:t>
            </a:r>
            <a:r>
              <a:rPr lang="en" sz="1150">
                <a:solidFill>
                  <a:schemeClr val="dk1"/>
                </a:solidFill>
              </a:rPr>
              <a:t> Normalized JSON via API (REQ-NS-214)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90" name="Shape 90"/>
        <p:cNvGrpSpPr/>
        <p:nvPr/>
      </p:nvGrpSpPr>
      <p:grpSpPr>
        <a:xfrm>
          <a:off x="0" y="0"/>
          <a:ext cx="0" cy="0"/>
          <a:chOff x="0" y="0"/>
          <a:chExt cx="0" cy="0"/>
        </a:xfrm>
      </p:grpSpPr>
      <p:pic>
        <p:nvPicPr>
          <p:cNvPr id="91" name="Google Shape;91;p19" title="slide5.drawio.png"/>
          <p:cNvPicPr preferRelativeResize="0"/>
          <p:nvPr/>
        </p:nvPicPr>
        <p:blipFill>
          <a:blip r:embed="rId3">
            <a:alphaModFix/>
          </a:blip>
          <a:stretch>
            <a:fillRect/>
          </a:stretch>
        </p:blipFill>
        <p:spPr>
          <a:xfrm>
            <a:off x="1603938" y="788825"/>
            <a:ext cx="5667375" cy="4171950"/>
          </a:xfrm>
          <a:prstGeom prst="rect">
            <a:avLst/>
          </a:prstGeom>
          <a:noFill/>
          <a:ln>
            <a:noFill/>
          </a:ln>
        </p:spPr>
      </p:pic>
      <p:sp>
        <p:nvSpPr>
          <p:cNvPr id="92" name="Google Shape;92;p19"/>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Analysis: Challenges and Pain Points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0" y="445025"/>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 Federated Data Ponds with AI-Assisted API</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b="1" lang="en" sz="1150">
                <a:solidFill>
                  <a:schemeClr val="dk1"/>
                </a:solidFill>
              </a:rPr>
              <a:t>Federated Data Ponds:</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6+ ponds: Atmospheric, Oceanic, Terrestrial, Spatial, Multi-Type, Metadata, Restricted</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ETL normalizes data (e.g., JSON/NetCDF → Parquet) with metadata catalogs (REQ-NS-156)</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Unified API:</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uFill>
                  <a:noFill/>
                </a:uFill>
                <a:hlinkClick r:id="rId3">
                  <a:extLst>
                    <a:ext uri="{A12FA001-AC4F-418D-AE19-62706E023703}">
                      <ahyp:hlinkClr val="tx"/>
                    </a:ext>
                  </a:extLst>
                </a:hlinkClick>
              </a:rPr>
              <a:t>https://api.noaa-ponds.org/v1/data</a:t>
            </a:r>
            <a:r>
              <a:rPr lang="en" sz="1150">
                <a:solidFill>
                  <a:schemeClr val="dk1"/>
                </a:solidFill>
              </a:rPr>
              <a:t> queries across ponds (REQ-NS-135, REQ-NS-115)</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Example: /data?type=storm®ion=CA → Atmospheric + Oceanic</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JSON API:</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Default JSON output, options for NetCDF, GeoJSON (REQ-NS-214, REQ-NS-127)</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AI Layering:</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BERT-based NLP routes queries (e.g., “urban heat” → Oceanic + Terrestrial)</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Personalizes responses (e.g., Ortiz: NetCDF) (REQ-NS-125)</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Security:</a:t>
            </a:r>
            <a:r>
              <a:rPr lang="en" sz="1150">
                <a:solidFill>
                  <a:schemeClr val="dk1"/>
                </a:solidFill>
              </a:rPr>
              <a:t> 2FA, OAuth for Restricted Pond (REQ-NS-193, REQ-NS-174)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02" name="Shape 102"/>
        <p:cNvGrpSpPr/>
        <p:nvPr/>
      </p:nvGrpSpPr>
      <p:grpSpPr>
        <a:xfrm>
          <a:off x="0" y="0"/>
          <a:ext cx="0" cy="0"/>
          <a:chOff x="0" y="0"/>
          <a:chExt cx="0" cy="0"/>
        </a:xfrm>
      </p:grpSpPr>
      <p:pic>
        <p:nvPicPr>
          <p:cNvPr id="103" name="Google Shape;103;p21" title="slide6.drawio.png"/>
          <p:cNvPicPr preferRelativeResize="0"/>
          <p:nvPr/>
        </p:nvPicPr>
        <p:blipFill>
          <a:blip r:embed="rId3">
            <a:alphaModFix/>
          </a:blip>
          <a:stretch>
            <a:fillRect/>
          </a:stretch>
        </p:blipFill>
        <p:spPr>
          <a:xfrm>
            <a:off x="5058675" y="228600"/>
            <a:ext cx="2739350" cy="4838697"/>
          </a:xfrm>
          <a:prstGeom prst="rect">
            <a:avLst/>
          </a:prstGeom>
          <a:noFill/>
          <a:ln>
            <a:noFill/>
          </a:ln>
        </p:spPr>
      </p:pic>
      <p:sp>
        <p:nvSpPr>
          <p:cNvPr id="104" name="Google Shape;104;p21"/>
          <p:cNvSpPr txBox="1"/>
          <p:nvPr>
            <p:ph type="title"/>
          </p:nvPr>
        </p:nvSpPr>
        <p:spPr>
          <a:xfrm>
            <a:off x="0" y="64025"/>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 Federated Data</a:t>
            </a:r>
            <a:br>
              <a:rPr lang="en"/>
            </a:br>
            <a:r>
              <a:rPr lang="en"/>
              <a:t>Ponds with AI-Assisted API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 Unified API with Data Personalization</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b="1" lang="en" sz="1150">
                <a:solidFill>
                  <a:schemeClr val="dk1"/>
                </a:solidFill>
              </a:rPr>
              <a:t>Federated API:</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Queries ponds, delivers JSON (e.g., /data?type=urban_heat) (REQ-NS-137)</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Options: NetCDF, GeoJSON, imagery (REQ-NS-214)</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Layering:</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AI routing (e.g., Jansen: Atmospheric + Oceanic)</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Personalization: Ortiz (NetCDF), Wright (GeoJSON) (REQ-NS-125)</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Cross-Pond Aggregation (e.g., Myers: GOES-19 + OISST)</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Benefits:</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Metadata resolution (REQ-NS-137)</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Simplified filtering (REQ-NS-135)</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Licensing clarity (REQ-NS-174)</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Security:</a:t>
            </a:r>
            <a:r>
              <a:rPr lang="en" sz="1150">
                <a:solidFill>
                  <a:schemeClr val="dk1"/>
                </a:solidFill>
              </a:rPr>
              <a:t> OAuth for Restricted Pond (REQ-NS-103, REQ-NS-174)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JSON snippet example</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1700"/>
              </a:spcBef>
              <a:spcAft>
                <a:spcPts val="3600"/>
              </a:spcAft>
              <a:buNone/>
            </a:pPr>
            <a:br>
              <a:rPr lang="en" sz="1000">
                <a:solidFill>
                  <a:schemeClr val="dk1"/>
                </a:solidFill>
                <a:latin typeface="Courier New"/>
                <a:ea typeface="Courier New"/>
                <a:cs typeface="Courier New"/>
                <a:sym typeface="Courier New"/>
              </a:rPr>
            </a:br>
            <a:br>
              <a:rPr lang="en" sz="1000">
                <a:solidFill>
                  <a:schemeClr val="dk1"/>
                </a:solidFill>
                <a:latin typeface="Courier New"/>
                <a:ea typeface="Courier New"/>
                <a:cs typeface="Courier New"/>
                <a:sym typeface="Courier New"/>
              </a:rPr>
            </a:br>
            <a:r>
              <a:rPr lang="en" sz="1000">
                <a:solidFill>
                  <a:schemeClr val="dk1"/>
                </a:solidFill>
                <a:latin typeface="Courier New"/>
                <a:ea typeface="Courier New"/>
                <a:cs typeface="Courier New"/>
                <a:sym typeface="Courier New"/>
              </a:rPr>
              <a:t>json</a:t>
            </a:r>
            <a:r>
              <a:rPr lang="en" sz="1000">
                <a:solidFill>
                  <a:schemeClr val="dk1"/>
                </a:solidFill>
              </a:rPr>
              <a:t>{</a:t>
            </a:r>
            <a:br>
              <a:rPr lang="en" sz="1000">
                <a:solidFill>
                  <a:schemeClr val="dk1"/>
                </a:solidFill>
              </a:rPr>
            </a:br>
            <a:r>
              <a:rPr lang="en" sz="1000">
                <a:solidFill>
                  <a:schemeClr val="dk1"/>
                </a:solidFill>
              </a:rPr>
              <a:t>  "data": { "precipitation": [], "water_levels": [] },</a:t>
            </a:r>
            <a:br>
              <a:rPr lang="en" sz="1000">
                <a:solidFill>
                  <a:schemeClr val="dk1"/>
                </a:solidFill>
              </a:rPr>
            </a:br>
            <a:r>
              <a:rPr lang="en" sz="1000">
                <a:solidFill>
                  <a:schemeClr val="dk1"/>
                </a:solidFill>
              </a:rPr>
              <a:t>  "metadata": { "sources": ["Atmospheric Pond", "Oceanic Pond"] </a:t>
            </a:r>
            <a:br>
              <a:rPr lang="en" sz="1000">
                <a:solidFill>
                  <a:schemeClr val="dk1"/>
                </a:solidFill>
              </a:rPr>
            </a:br>
            <a:r>
              <a:rPr lang="en" sz="1000">
                <a:solidFill>
                  <a:schemeClr val="dk1"/>
                </a:solidFill>
              </a:rPr>
              <a:t>}</a:t>
            </a:r>
            <a:endParaRPr/>
          </a:p>
        </p:txBody>
      </p:sp>
      <p:sp>
        <p:nvSpPr>
          <p:cNvPr id="117" name="Google Shape;117;p23"/>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Output: Unified API with Data Personalization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16425"/>
            <a:ext cx="8713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Use Case: Lieutenant Colonel Jenna Blackwell </a:t>
            </a:r>
            <a:br>
              <a:rPr lang="en"/>
            </a:br>
            <a:r>
              <a:rPr lang="en"/>
              <a:t>(Military Operations Planner)</a:t>
            </a:r>
            <a:endParaRPr/>
          </a:p>
          <a:p>
            <a:pPr indent="0" lvl="0" marL="0" rtl="0" algn="l">
              <a:spcBef>
                <a:spcPts val="0"/>
              </a:spcBef>
              <a:spcAft>
                <a:spcPts val="0"/>
              </a:spcAft>
              <a:buNone/>
            </a:pPr>
            <a:r>
              <a:t/>
            </a:r>
            <a:endParaRPr/>
          </a:p>
        </p:txBody>
      </p:sp>
      <p:sp>
        <p:nvSpPr>
          <p:cNvPr id="123" name="Google Shape;123;p24"/>
          <p:cNvSpPr txBox="1"/>
          <p:nvPr>
            <p:ph idx="1" type="body"/>
          </p:nvPr>
        </p:nvSpPr>
        <p:spPr>
          <a:xfrm>
            <a:off x="311700" y="1228675"/>
            <a:ext cx="8520600" cy="3416400"/>
          </a:xfrm>
          <a:prstGeom prst="rect">
            <a:avLst/>
          </a:prstGeom>
        </p:spPr>
        <p:txBody>
          <a:bodyPr anchorCtr="0" anchor="t" bIns="91425" lIns="91425" spcFirstLastPara="1" rIns="91425" wrap="square" tIns="91425">
            <a:normAutofit/>
          </a:bodyPr>
          <a:lstStyle/>
          <a:p>
            <a:pPr indent="-301625" lvl="1" marL="914400" rtl="0" algn="l">
              <a:spcBef>
                <a:spcPts val="0"/>
              </a:spcBef>
              <a:spcAft>
                <a:spcPts val="0"/>
              </a:spcAft>
              <a:buClr>
                <a:schemeClr val="dk1"/>
              </a:buClr>
              <a:buSzPts val="1150"/>
              <a:buChar char="●"/>
            </a:pPr>
            <a:r>
              <a:rPr b="1" lang="en" sz="1150">
                <a:solidFill>
                  <a:schemeClr val="dk1"/>
                </a:solidFill>
              </a:rPr>
              <a:t>Persona Background</a:t>
            </a:r>
            <a:r>
              <a:rPr lang="en" sz="1150">
                <a:solidFill>
                  <a:schemeClr val="dk1"/>
                </a:solidFill>
              </a:rPr>
              <a:t>: Lieutenant Colonel Jenna Blackwell is a military operations planner with the U.S. Air Force, specializing in real-time environmental data for mission planning and execution. She requires rapid access to NOAA’s weather and geospatial data to support operations, including disaster response and tactical missions. Her role demands high-availability data, secure access to restricted endpoints (e.g., EMWIN, SARSAT), and integration with military systems. She has NOAA public trust clearance, enabling access to sensitive datasets.</a:t>
            </a:r>
            <a:br>
              <a:rPr lang="en" sz="1150">
                <a:solidFill>
                  <a:schemeClr val="dk1"/>
                </a:solidFill>
              </a:rPr>
            </a:b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Scenario</a:t>
            </a:r>
            <a:r>
              <a:rPr lang="en" sz="1150">
                <a:solidFill>
                  <a:schemeClr val="dk1"/>
                </a:solidFill>
              </a:rPr>
              <a:t>: Lt. Col. Blackwell is tasked with planning a humanitarian aid mission in response to a Category 4 hurricane approaching the southeastern U.S. coast. The mission involves coordinating Air Force logistics, including airlifts and reconnaissance flights, to deliver supplies and assess damage. She needs real-time weather data (e.g., precipitation, wind speed), geospatial data (e.g., flood zones), and satellite imagery to ensure safe flight paths and prioritize aid distribution. The data must be accessible securely, quickly, and in formats compatible with military planning tools (e.g., JSON for real-time updates, GeoJSON for mapping).</a:t>
            </a:r>
            <a:endParaRPr sz="1150">
              <a:solidFill>
                <a:schemeClr val="dk1"/>
              </a:solidFill>
            </a:endParaRPr>
          </a:p>
          <a:p>
            <a:pPr indent="0" lvl="0" marL="914400" rtl="0" algn="l">
              <a:spcBef>
                <a:spcPts val="2200"/>
              </a:spcBef>
              <a:spcAft>
                <a:spcPts val="2200"/>
              </a:spcAft>
              <a:buNone/>
            </a:pPr>
            <a:r>
              <a:t/>
            </a:r>
            <a:endParaRPr b="1" sz="115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State</a:t>
            </a:r>
            <a:endParaRPr/>
          </a:p>
        </p:txBody>
      </p:sp>
      <p:sp>
        <p:nvSpPr>
          <p:cNvPr id="129" name="Google Shape;12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50">
                <a:solidFill>
                  <a:schemeClr val="dk1"/>
                </a:solidFill>
              </a:rPr>
              <a:t>Blackwell accesses NOAA’s endpoints separately: NWS API for weather forecasts, GOES-19 for satellite imagery, and CO-OPS GIS for coastal flood data.</a:t>
            </a:r>
            <a:endParaRPr sz="1150">
              <a:solidFill>
                <a:schemeClr val="dk1"/>
              </a:solidFill>
            </a:endParaRPr>
          </a:p>
          <a:p>
            <a:pPr indent="0" lvl="0" marL="0" rtl="0" algn="l">
              <a:spcBef>
                <a:spcPts val="900"/>
              </a:spcBef>
              <a:spcAft>
                <a:spcPts val="0"/>
              </a:spcAft>
              <a:buClr>
                <a:schemeClr val="dk1"/>
              </a:buClr>
              <a:buSzPts val="1100"/>
              <a:buFont typeface="Arial"/>
              <a:buNone/>
            </a:pPr>
            <a:r>
              <a:rPr lang="en" sz="1150">
                <a:solidFill>
                  <a:schemeClr val="dk1"/>
                </a:solidFill>
              </a:rPr>
              <a:t>Challenges include:</a:t>
            </a:r>
            <a:endParaRPr sz="1150">
              <a:solidFill>
                <a:schemeClr val="dk1"/>
              </a:solidFill>
            </a:endParaRPr>
          </a:p>
          <a:p>
            <a:pPr indent="-298450" lvl="0" marL="457200" rtl="0" algn="l">
              <a:spcBef>
                <a:spcPts val="1800"/>
              </a:spcBef>
              <a:spcAft>
                <a:spcPts val="0"/>
              </a:spcAft>
              <a:buClr>
                <a:schemeClr val="dk1"/>
              </a:buClr>
              <a:buSzPts val="1100"/>
              <a:buChar char="●"/>
            </a:pPr>
            <a:r>
              <a:rPr b="1" lang="en" sz="1150">
                <a:solidFill>
                  <a:schemeClr val="dk1"/>
                </a:solidFill>
              </a:rPr>
              <a:t>Fragmented Access</a:t>
            </a:r>
            <a:r>
              <a:rPr lang="en" sz="1150">
                <a:solidFill>
                  <a:schemeClr val="dk1"/>
                </a:solidFill>
              </a:rPr>
              <a:t>: Navigating multiple endpoints (e.g., NWS API, GOES-19) is time-consuming.</a:t>
            </a:r>
            <a:endParaRPr sz="1150">
              <a:solidFill>
                <a:schemeClr val="dk1"/>
              </a:solidFill>
            </a:endParaRPr>
          </a:p>
          <a:p>
            <a:pPr indent="-298450" lvl="0" marL="457200" rtl="0" algn="l">
              <a:spcBef>
                <a:spcPts val="0"/>
              </a:spcBef>
              <a:spcAft>
                <a:spcPts val="0"/>
              </a:spcAft>
              <a:buClr>
                <a:schemeClr val="dk1"/>
              </a:buClr>
              <a:buSzPts val="1100"/>
              <a:buChar char="●"/>
            </a:pPr>
            <a:r>
              <a:rPr b="1" lang="en" sz="1150">
                <a:solidFill>
                  <a:schemeClr val="dk1"/>
                </a:solidFill>
              </a:rPr>
              <a:t>Format Inconsistency</a:t>
            </a:r>
            <a:r>
              <a:rPr lang="en" sz="1150">
                <a:solidFill>
                  <a:schemeClr val="dk1"/>
                </a:solidFill>
              </a:rPr>
              <a:t>: JSON (NWS API) and NetCDF (GOES-19) require manual conversion for integration.</a:t>
            </a:r>
            <a:endParaRPr sz="1150">
              <a:solidFill>
                <a:schemeClr val="dk1"/>
              </a:solidFill>
            </a:endParaRPr>
          </a:p>
          <a:p>
            <a:pPr indent="-298450" lvl="0" marL="457200" rtl="0" algn="l">
              <a:spcBef>
                <a:spcPts val="0"/>
              </a:spcBef>
              <a:spcAft>
                <a:spcPts val="0"/>
              </a:spcAft>
              <a:buClr>
                <a:schemeClr val="dk1"/>
              </a:buClr>
              <a:buSzPts val="1100"/>
              <a:buChar char="●"/>
            </a:pPr>
            <a:r>
              <a:rPr b="1" lang="en" sz="1150">
                <a:solidFill>
                  <a:schemeClr val="dk1"/>
                </a:solidFill>
              </a:rPr>
              <a:t>Security</a:t>
            </a:r>
            <a:r>
              <a:rPr lang="en" sz="1150">
                <a:solidFill>
                  <a:schemeClr val="dk1"/>
                </a:solidFill>
              </a:rPr>
              <a:t>: Restricted endpoints like EMWIN (emergency weather data) require separate authentication, slowing her workflow.</a:t>
            </a:r>
            <a:endParaRPr sz="1150">
              <a:solidFill>
                <a:schemeClr val="dk1"/>
              </a:solidFill>
            </a:endParaRPr>
          </a:p>
          <a:p>
            <a:pPr indent="-298450" lvl="0" marL="457200" rtl="0" algn="l">
              <a:spcBef>
                <a:spcPts val="0"/>
              </a:spcBef>
              <a:spcAft>
                <a:spcPts val="0"/>
              </a:spcAft>
              <a:buClr>
                <a:schemeClr val="dk1"/>
              </a:buClr>
              <a:buSzPts val="1100"/>
              <a:buChar char="●"/>
            </a:pPr>
            <a:r>
              <a:rPr b="1" lang="en" sz="1150">
                <a:solidFill>
                  <a:schemeClr val="dk1"/>
                </a:solidFill>
              </a:rPr>
              <a:t>Metadata Gaps</a:t>
            </a:r>
            <a:r>
              <a:rPr lang="en" sz="1150">
                <a:solidFill>
                  <a:schemeClr val="dk1"/>
                </a:solidFill>
              </a:rPr>
              <a:t>: Unclear data sources and update frequencies hinder decision-making under tight deadlines.</a:t>
            </a:r>
            <a:endParaRPr sz="1150">
              <a:solidFill>
                <a:schemeClr val="dk1"/>
              </a:solidFill>
            </a:endParaRPr>
          </a:p>
          <a:p>
            <a:pPr indent="0" lvl="0" marL="0" rtl="0" algn="l">
              <a:spcBef>
                <a:spcPts val="9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Proposed Solution with Federated Data Ponds</a:t>
            </a:r>
            <a:endParaRPr/>
          </a:p>
        </p:txBody>
      </p:sp>
      <p:sp>
        <p:nvSpPr>
          <p:cNvPr id="135" name="Google Shape;135;p26"/>
          <p:cNvSpPr txBox="1"/>
          <p:nvPr>
            <p:ph idx="1" type="body"/>
          </p:nvPr>
        </p:nvSpPr>
        <p:spPr>
          <a:xfrm>
            <a:off x="311700" y="1152475"/>
            <a:ext cx="8520600" cy="349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50">
                <a:solidFill>
                  <a:schemeClr val="dk1"/>
                </a:solidFill>
              </a:rPr>
              <a:t>System Response</a:t>
            </a:r>
            <a:r>
              <a:rPr lang="en" sz="1150">
                <a:solidFill>
                  <a:schemeClr val="dk1"/>
                </a:solidFill>
              </a:rPr>
              <a:t>:</a:t>
            </a:r>
            <a:endParaRPr sz="1150">
              <a:solidFill>
                <a:schemeClr val="dk1"/>
              </a:solidFill>
            </a:endParaRPr>
          </a:p>
          <a:p>
            <a:pPr indent="-298450" lvl="0" marL="457200" rtl="0" algn="l">
              <a:spcBef>
                <a:spcPts val="1200"/>
              </a:spcBef>
              <a:spcAft>
                <a:spcPts val="0"/>
              </a:spcAft>
              <a:buClr>
                <a:schemeClr val="dk1"/>
              </a:buClr>
              <a:buSzPts val="1100"/>
              <a:buChar char="●"/>
            </a:pPr>
            <a:r>
              <a:rPr b="1" lang="en" sz="1150">
                <a:solidFill>
                  <a:schemeClr val="dk1"/>
                </a:solidFill>
              </a:rPr>
              <a:t>AI Routing</a:t>
            </a:r>
            <a:r>
              <a:rPr lang="en" sz="1150">
                <a:solidFill>
                  <a:schemeClr val="dk1"/>
                </a:solidFill>
              </a:rPr>
              <a:t>: A BERT-based NLP model interprets the query and routes it to relevant ponds:</a:t>
            </a:r>
            <a:endParaRPr sz="1150">
              <a:solidFill>
                <a:schemeClr val="dk1"/>
              </a:solidFill>
            </a:endParaRPr>
          </a:p>
          <a:p>
            <a:pPr indent="-298450" lvl="1" marL="914400" rtl="0" algn="l">
              <a:spcBef>
                <a:spcPts val="0"/>
              </a:spcBef>
              <a:spcAft>
                <a:spcPts val="0"/>
              </a:spcAft>
              <a:buClr>
                <a:schemeClr val="dk1"/>
              </a:buClr>
              <a:buSzPts val="1100"/>
              <a:buChar char="●"/>
            </a:pPr>
            <a:r>
              <a:rPr b="1" lang="en" sz="1150">
                <a:solidFill>
                  <a:schemeClr val="dk1"/>
                </a:solidFill>
              </a:rPr>
              <a:t>Atmospheric Pond</a:t>
            </a:r>
            <a:r>
              <a:rPr lang="en" sz="1150">
                <a:solidFill>
                  <a:schemeClr val="dk1"/>
                </a:solidFill>
              </a:rPr>
              <a:t>: Pulls NWS API (JSON) and GOES-19 (NetCDF) for weather and imagery.</a:t>
            </a:r>
            <a:endParaRPr sz="1150">
              <a:solidFill>
                <a:schemeClr val="dk1"/>
              </a:solidFill>
            </a:endParaRPr>
          </a:p>
          <a:p>
            <a:pPr indent="-298450" lvl="1" marL="914400" rtl="0" algn="l">
              <a:spcBef>
                <a:spcPts val="0"/>
              </a:spcBef>
              <a:spcAft>
                <a:spcPts val="0"/>
              </a:spcAft>
              <a:buClr>
                <a:schemeClr val="dk1"/>
              </a:buClr>
              <a:buSzPts val="1100"/>
              <a:buChar char="●"/>
            </a:pPr>
            <a:r>
              <a:rPr b="1" lang="en" sz="1150">
                <a:solidFill>
                  <a:schemeClr val="dk1"/>
                </a:solidFill>
              </a:rPr>
              <a:t>Spatial Pond</a:t>
            </a:r>
            <a:r>
              <a:rPr lang="en" sz="1150">
                <a:solidFill>
                  <a:schemeClr val="dk1"/>
                </a:solidFill>
              </a:rPr>
              <a:t>: Retrieves CO-OPS GIS (GeoJSON) for flood zones.</a:t>
            </a:r>
            <a:endParaRPr sz="1150">
              <a:solidFill>
                <a:schemeClr val="dk1"/>
              </a:solidFill>
            </a:endParaRPr>
          </a:p>
          <a:p>
            <a:pPr indent="-298450" lvl="1" marL="914400" rtl="0" algn="l">
              <a:spcBef>
                <a:spcPts val="0"/>
              </a:spcBef>
              <a:spcAft>
                <a:spcPts val="0"/>
              </a:spcAft>
              <a:buClr>
                <a:schemeClr val="dk1"/>
              </a:buClr>
              <a:buSzPts val="1100"/>
              <a:buChar char="●"/>
            </a:pPr>
            <a:r>
              <a:rPr b="1" lang="en" sz="1150">
                <a:solidFill>
                  <a:schemeClr val="dk1"/>
                </a:solidFill>
              </a:rPr>
              <a:t>Restricted Pond</a:t>
            </a:r>
            <a:r>
              <a:rPr lang="en" sz="1150">
                <a:solidFill>
                  <a:schemeClr val="dk1"/>
                </a:solidFill>
              </a:rPr>
              <a:t>: Accesses EMWIN (real-time alerts) using her NOAA clearance via OAuth.</a:t>
            </a:r>
            <a:endParaRPr sz="1150">
              <a:solidFill>
                <a:schemeClr val="dk1"/>
              </a:solidFill>
            </a:endParaRPr>
          </a:p>
          <a:p>
            <a:pPr indent="-298450" lvl="0" marL="457200" rtl="0" algn="l">
              <a:spcBef>
                <a:spcPts val="0"/>
              </a:spcBef>
              <a:spcAft>
                <a:spcPts val="0"/>
              </a:spcAft>
              <a:buClr>
                <a:schemeClr val="dk1"/>
              </a:buClr>
              <a:buSzPts val="1100"/>
              <a:buChar char="●"/>
            </a:pPr>
            <a:r>
              <a:rPr b="1" lang="en" sz="1150">
                <a:solidFill>
                  <a:schemeClr val="dk1"/>
                </a:solidFill>
              </a:rPr>
              <a:t>Data Aggregation</a:t>
            </a:r>
            <a:r>
              <a:rPr lang="en" sz="1150">
                <a:solidFill>
                  <a:schemeClr val="dk1"/>
                </a:solidFill>
              </a:rPr>
              <a:t>: The API normalizes data into JSON by default, with an option for GeoJSON to support mapping tools. For example:</a:t>
            </a:r>
            <a:endParaRPr sz="1150">
              <a:solidFill>
                <a:schemeClr val="dk1"/>
              </a:solidFill>
            </a:endParaRPr>
          </a:p>
          <a:p>
            <a:pPr indent="0" lvl="0" marL="0" rtl="0" algn="l">
              <a:spcBef>
                <a:spcPts val="900"/>
              </a:spcBef>
              <a:spcAft>
                <a:spcPts val="0"/>
              </a:spcAft>
              <a:buNone/>
            </a:pPr>
            <a:r>
              <a:rPr b="1" lang="en" sz="1150">
                <a:solidFill>
                  <a:schemeClr val="dk1"/>
                </a:solidFill>
              </a:rPr>
              <a:t>Personalization</a:t>
            </a:r>
            <a:r>
              <a:rPr lang="en" sz="1150">
                <a:solidFill>
                  <a:schemeClr val="dk1"/>
                </a:solidFill>
              </a:rPr>
              <a:t>: The AI tailors the response to Blackwell’s needs:</a:t>
            </a:r>
            <a:endParaRPr sz="1150">
              <a:solidFill>
                <a:schemeClr val="dk1"/>
              </a:solidFill>
            </a:endParaRPr>
          </a:p>
          <a:p>
            <a:pPr indent="-298450" lvl="0" marL="457200" rtl="0" algn="l">
              <a:spcBef>
                <a:spcPts val="1300"/>
              </a:spcBef>
              <a:spcAft>
                <a:spcPts val="0"/>
              </a:spcAft>
              <a:buClr>
                <a:schemeClr val="dk1"/>
              </a:buClr>
              <a:buSzPts val="1100"/>
              <a:buChar char="●"/>
            </a:pPr>
            <a:r>
              <a:rPr lang="en" sz="1150">
                <a:solidFill>
                  <a:schemeClr val="dk1"/>
                </a:solidFill>
              </a:rPr>
              <a:t>Prioritizes real-time JSON for quick integration into mission planning software.</a:t>
            </a:r>
            <a:endParaRPr sz="1150">
              <a:solidFill>
                <a:schemeClr val="dk1"/>
              </a:solidFill>
            </a:endParaRPr>
          </a:p>
          <a:p>
            <a:pPr indent="-298450" lvl="0" marL="457200" rtl="0" algn="l">
              <a:spcBef>
                <a:spcPts val="0"/>
              </a:spcBef>
              <a:spcAft>
                <a:spcPts val="0"/>
              </a:spcAft>
              <a:buClr>
                <a:schemeClr val="dk1"/>
              </a:buClr>
              <a:buSzPts val="1100"/>
              <a:buChar char="●"/>
            </a:pPr>
            <a:r>
              <a:rPr lang="en" sz="1150">
                <a:solidFill>
                  <a:schemeClr val="dk1"/>
                </a:solidFill>
              </a:rPr>
              <a:t>Includes metadata (e.g., source, latency) to ensure reliability for critical decisions.</a:t>
            </a:r>
            <a:endParaRPr sz="1150">
              <a:solidFill>
                <a:schemeClr val="dk1"/>
              </a:solidFill>
            </a:endParaRPr>
          </a:p>
          <a:p>
            <a:pPr indent="0" lvl="0" marL="0" rtl="0" algn="l">
              <a:spcBef>
                <a:spcPts val="900"/>
              </a:spcBef>
              <a:spcAft>
                <a:spcPts val="0"/>
              </a:spcAft>
              <a:buNone/>
            </a:pPr>
            <a:r>
              <a:rPr b="1" lang="en" sz="1150">
                <a:solidFill>
                  <a:schemeClr val="dk1"/>
                </a:solidFill>
              </a:rPr>
              <a:t>Security</a:t>
            </a:r>
            <a:r>
              <a:rPr lang="en" sz="1150">
                <a:solidFill>
                  <a:schemeClr val="dk1"/>
                </a:solidFill>
              </a:rPr>
              <a:t>: OAuth authentication verifies her clearance for EMWIN, ensuring compliance with security requirements (REQ-NS-174, REQ-NS-193).</a:t>
            </a:r>
            <a:endParaRPr sz="115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lin ang="5400012" scaled="0"/>
        </a:gradFill>
      </p:bgPr>
    </p:bg>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Sample JSON Request</a:t>
            </a:r>
            <a:endParaRPr/>
          </a:p>
        </p:txBody>
      </p:sp>
      <p:pic>
        <p:nvPicPr>
          <p:cNvPr id="141" name="Google Shape;141;p27"/>
          <p:cNvPicPr preferRelativeResize="0"/>
          <p:nvPr/>
        </p:nvPicPr>
        <p:blipFill>
          <a:blip r:embed="rId3">
            <a:alphaModFix/>
          </a:blip>
          <a:stretch>
            <a:fillRect/>
          </a:stretch>
        </p:blipFill>
        <p:spPr>
          <a:xfrm>
            <a:off x="152400" y="1170125"/>
            <a:ext cx="8839201" cy="35928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lin ang="5400012" scaled="0"/>
        </a:gradFill>
      </p:bgPr>
    </p:bg>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Outcome</a:t>
            </a:r>
            <a:endParaRPr/>
          </a:p>
        </p:txBody>
      </p:sp>
      <p:sp>
        <p:nvSpPr>
          <p:cNvPr id="147" name="Google Shape;14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50">
                <a:solidFill>
                  <a:schemeClr val="dk1"/>
                </a:solidFill>
              </a:rPr>
              <a:t>Efficiency</a:t>
            </a:r>
            <a:r>
              <a:rPr lang="en" sz="1150">
                <a:solidFill>
                  <a:schemeClr val="dk1"/>
                </a:solidFill>
              </a:rPr>
              <a:t>: Blackwell accesses all necessary data through one API call, reducing planning time from hours to minutes.</a:t>
            </a:r>
            <a:endParaRPr sz="1150">
              <a:solidFill>
                <a:schemeClr val="dk1"/>
              </a:solidFill>
            </a:endParaRPr>
          </a:p>
          <a:p>
            <a:pPr indent="0" lvl="0" marL="0" rtl="0" algn="l">
              <a:spcBef>
                <a:spcPts val="900"/>
              </a:spcBef>
              <a:spcAft>
                <a:spcPts val="0"/>
              </a:spcAft>
              <a:buClr>
                <a:schemeClr val="dk1"/>
              </a:buClr>
              <a:buSzPts val="1100"/>
              <a:buFont typeface="Arial"/>
              <a:buNone/>
            </a:pPr>
            <a:r>
              <a:rPr b="1" lang="en" sz="1150">
                <a:solidFill>
                  <a:schemeClr val="dk1"/>
                </a:solidFill>
              </a:rPr>
              <a:t>Accuracy</a:t>
            </a:r>
            <a:r>
              <a:rPr lang="en" sz="1150">
                <a:solidFill>
                  <a:schemeClr val="dk1"/>
                </a:solidFill>
              </a:rPr>
              <a:t>: Normalized JSON and clear metadata ensure data compatibility and reliability, enabling precise flight path planning and aid prioritization.</a:t>
            </a:r>
            <a:endParaRPr sz="1150">
              <a:solidFill>
                <a:schemeClr val="dk1"/>
              </a:solidFill>
            </a:endParaRPr>
          </a:p>
          <a:p>
            <a:pPr indent="0" lvl="0" marL="0" rtl="0" algn="l">
              <a:spcBef>
                <a:spcPts val="900"/>
              </a:spcBef>
              <a:spcAft>
                <a:spcPts val="0"/>
              </a:spcAft>
              <a:buClr>
                <a:schemeClr val="dk1"/>
              </a:buClr>
              <a:buSzPts val="1100"/>
              <a:buFont typeface="Arial"/>
              <a:buNone/>
            </a:pPr>
            <a:r>
              <a:rPr b="1" lang="en" sz="1150">
                <a:solidFill>
                  <a:schemeClr val="dk1"/>
                </a:solidFill>
              </a:rPr>
              <a:t>Security</a:t>
            </a:r>
            <a:r>
              <a:rPr lang="en" sz="1150">
                <a:solidFill>
                  <a:schemeClr val="dk1"/>
                </a:solidFill>
              </a:rPr>
              <a:t>: Secure access to restricted data (EMWIN) supports mission-critical decisions without delays.</a:t>
            </a:r>
            <a:endParaRPr sz="1150">
              <a:solidFill>
                <a:schemeClr val="dk1"/>
              </a:solidFill>
            </a:endParaRPr>
          </a:p>
          <a:p>
            <a:pPr indent="0" lvl="0" marL="0" rtl="0" algn="l">
              <a:spcBef>
                <a:spcPts val="900"/>
              </a:spcBef>
              <a:spcAft>
                <a:spcPts val="0"/>
              </a:spcAft>
              <a:buClr>
                <a:schemeClr val="dk1"/>
              </a:buClr>
              <a:buSzPts val="1100"/>
              <a:buFont typeface="Arial"/>
              <a:buNone/>
            </a:pPr>
            <a:r>
              <a:rPr b="1" lang="en" sz="1150">
                <a:solidFill>
                  <a:schemeClr val="dk1"/>
                </a:solidFill>
              </a:rPr>
              <a:t>Impact</a:t>
            </a:r>
            <a:r>
              <a:rPr lang="en" sz="1150">
                <a:solidFill>
                  <a:schemeClr val="dk1"/>
                </a:solidFill>
              </a:rPr>
              <a:t>: The mission successfully delivers aid to affected areas, with safe and optimized flight operations, enhancing disaster response effectiveness.</a:t>
            </a:r>
            <a:endParaRPr sz="115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216425"/>
            <a:ext cx="8713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 Lieutenant Colonel Jenna Blackwell </a:t>
            </a:r>
            <a:br>
              <a:rPr lang="en"/>
            </a:br>
            <a:r>
              <a:rPr lang="en"/>
              <a:t>(Military Operations Planner)</a:t>
            </a:r>
            <a:endParaRPr/>
          </a:p>
          <a:p>
            <a:pPr indent="0" lvl="0" marL="0" rtl="0" algn="l">
              <a:spcBef>
                <a:spcPts val="0"/>
              </a:spcBef>
              <a:spcAft>
                <a:spcPts val="0"/>
              </a:spcAft>
              <a:buNone/>
            </a:pPr>
            <a:r>
              <a:t/>
            </a:r>
            <a:endParaRPr/>
          </a:p>
        </p:txBody>
      </p:sp>
      <p:pic>
        <p:nvPicPr>
          <p:cNvPr id="153" name="Google Shape;153;p29" title="usecase.drawio.png"/>
          <p:cNvPicPr preferRelativeResize="0"/>
          <p:nvPr/>
        </p:nvPicPr>
        <p:blipFill>
          <a:blip r:embed="rId3">
            <a:alphaModFix/>
          </a:blip>
          <a:stretch>
            <a:fillRect/>
          </a:stretch>
        </p:blipFill>
        <p:spPr>
          <a:xfrm>
            <a:off x="152400" y="1855925"/>
            <a:ext cx="8839200" cy="26266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#1: Endpoints to Data Ponds</a:t>
            </a:r>
            <a:endParaRPr/>
          </a:p>
        </p:txBody>
      </p:sp>
      <p:sp>
        <p:nvSpPr>
          <p:cNvPr id="159" name="Google Shape;15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2" marL="1371600" rtl="0" algn="l">
              <a:spcBef>
                <a:spcPts val="3000"/>
              </a:spcBef>
              <a:spcAft>
                <a:spcPts val="0"/>
              </a:spcAft>
              <a:buClr>
                <a:schemeClr val="dk1"/>
              </a:buClr>
              <a:buSzPts val="1150"/>
              <a:buChar char="●"/>
            </a:pPr>
            <a:r>
              <a:rPr lang="en" sz="1150">
                <a:solidFill>
                  <a:schemeClr val="dk1"/>
                </a:solidFill>
              </a:rPr>
              <a:t>ETL: JSON/NetCDF → Parquet (REQ-NS-156)</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Restricted Pond: Clearance-based access (REQ-NS-174)</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Metadata catalogs for routing (REQ-NS-137)</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Traffic: ~Tens TB/day ingress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63" name="Shape 163"/>
        <p:cNvGrpSpPr/>
        <p:nvPr/>
      </p:nvGrpSpPr>
      <p:grpSpPr>
        <a:xfrm>
          <a:off x="0" y="0"/>
          <a:ext cx="0" cy="0"/>
          <a:chOff x="0" y="0"/>
          <a:chExt cx="0" cy="0"/>
        </a:xfrm>
      </p:grpSpPr>
      <p:pic>
        <p:nvPicPr>
          <p:cNvPr id="164" name="Google Shape;164;p31" title="slide9.drawio.png"/>
          <p:cNvPicPr preferRelativeResize="0"/>
          <p:nvPr/>
        </p:nvPicPr>
        <p:blipFill>
          <a:blip r:embed="rId3">
            <a:alphaModFix/>
          </a:blip>
          <a:stretch>
            <a:fillRect/>
          </a:stretch>
        </p:blipFill>
        <p:spPr>
          <a:xfrm>
            <a:off x="5838738" y="152400"/>
            <a:ext cx="2648131" cy="4838701"/>
          </a:xfrm>
          <a:prstGeom prst="rect">
            <a:avLst/>
          </a:prstGeom>
          <a:noFill/>
          <a:ln>
            <a:noFill/>
          </a:ln>
        </p:spPr>
      </p:pic>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#1: Endpoints to </a:t>
            </a:r>
            <a:br>
              <a:rPr lang="en"/>
            </a:br>
            <a:r>
              <a:rPr lang="en"/>
              <a:t>Data Ponds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#2: Data Ponds to Personas</a:t>
            </a:r>
            <a:endParaRPr/>
          </a:p>
        </p:txBody>
      </p:sp>
      <p:sp>
        <p:nvSpPr>
          <p:cNvPr id="171" name="Google Shape;17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2" marL="1371600" rtl="0" algn="l">
              <a:spcBef>
                <a:spcPts val="3000"/>
              </a:spcBef>
              <a:spcAft>
                <a:spcPts val="0"/>
              </a:spcAft>
              <a:buClr>
                <a:schemeClr val="dk1"/>
              </a:buClr>
              <a:buSzPts val="1150"/>
              <a:buChar char="●"/>
            </a:pPr>
            <a:r>
              <a:rPr lang="en" sz="1150">
                <a:solidFill>
                  <a:schemeClr val="dk1"/>
                </a:solidFill>
              </a:rPr>
              <a:t>Multi-pond queries (e.g., Lin: Oceanic + Terrestrial)</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AI routing (REQ-NS-135)</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Personalized delivery (REQ-NS-125)</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Traffic: 10–100 GB (Ortiz), 1–10 KB (Wright)</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75" name="Shape 175"/>
        <p:cNvGrpSpPr/>
        <p:nvPr/>
      </p:nvGrpSpPr>
      <p:grpSpPr>
        <a:xfrm>
          <a:off x="0" y="0"/>
          <a:ext cx="0" cy="0"/>
          <a:chOff x="0" y="0"/>
          <a:chExt cx="0" cy="0"/>
        </a:xfrm>
      </p:grpSpPr>
      <p:pic>
        <p:nvPicPr>
          <p:cNvPr id="176" name="Google Shape;176;p33" title="slide10.drawio.png"/>
          <p:cNvPicPr preferRelativeResize="0"/>
          <p:nvPr/>
        </p:nvPicPr>
        <p:blipFill>
          <a:blip r:embed="rId3">
            <a:alphaModFix/>
          </a:blip>
          <a:stretch>
            <a:fillRect/>
          </a:stretch>
        </p:blipFill>
        <p:spPr>
          <a:xfrm>
            <a:off x="0" y="1629668"/>
            <a:ext cx="9144003" cy="1884165"/>
          </a:xfrm>
          <a:prstGeom prst="rect">
            <a:avLst/>
          </a:prstGeom>
          <a:noFill/>
          <a:ln>
            <a:noFill/>
          </a:ln>
        </p:spPr>
      </p:pic>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#2: Data Ponds to Personas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 Scalable, Personalized Solution</a:t>
            </a:r>
            <a:endParaRPr/>
          </a:p>
        </p:txBody>
      </p:sp>
      <p:sp>
        <p:nvSpPr>
          <p:cNvPr id="183" name="Google Shape;18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1625" lvl="1" marL="914400" rtl="0" algn="l">
              <a:spcBef>
                <a:spcPts val="1700"/>
              </a:spcBef>
              <a:spcAft>
                <a:spcPts val="0"/>
              </a:spcAft>
              <a:buClr>
                <a:schemeClr val="dk1"/>
              </a:buClr>
              <a:buSzPts val="1150"/>
              <a:buChar char="●"/>
            </a:pPr>
            <a:r>
              <a:rPr b="1" lang="en" sz="1150">
                <a:solidFill>
                  <a:schemeClr val="dk1"/>
                </a:solidFill>
              </a:rPr>
              <a:t>Data Ponds:</a:t>
            </a:r>
            <a:r>
              <a:rPr lang="en" sz="1150">
                <a:solidFill>
                  <a:schemeClr val="dk1"/>
                </a:solidFill>
              </a:rPr>
              <a:t> Modular repositories for 25 endpoints (REQ-NS-156)</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Federated API:</a:t>
            </a:r>
            <a:r>
              <a:rPr lang="en" sz="1150">
                <a:solidFill>
                  <a:schemeClr val="dk1"/>
                </a:solidFill>
              </a:rPr>
              <a:t> Unified, AI-driven access (REQ-NS-135, REQ-NS-125)</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Benefits:</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Resolves metadata/filtering/format issues</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Clarifies licensing (REQ-NS-174)</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Scales for personas</a:t>
            </a:r>
            <a:endParaRPr sz="1150">
              <a:solidFill>
                <a:schemeClr val="dk1"/>
              </a:solidFill>
            </a:endParaRPr>
          </a:p>
          <a:p>
            <a:pPr indent="-301625" lvl="1" marL="914400" rtl="0" algn="l">
              <a:spcBef>
                <a:spcPts val="0"/>
              </a:spcBef>
              <a:spcAft>
                <a:spcPts val="0"/>
              </a:spcAft>
              <a:buClr>
                <a:schemeClr val="dk1"/>
              </a:buClr>
              <a:buSzPts val="1150"/>
              <a:buChar char="●"/>
            </a:pPr>
            <a:r>
              <a:rPr b="1" lang="en" sz="1150">
                <a:solidFill>
                  <a:schemeClr val="dk1"/>
                </a:solidFill>
              </a:rPr>
              <a:t>Next Steps:</a:t>
            </a:r>
            <a:endParaRPr b="1"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AWS S3, Spark for ponds (or internal / standardized)</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AWS Lambda, BERT for API/AI (or custom)</a:t>
            </a:r>
            <a:endParaRPr sz="1150">
              <a:solidFill>
                <a:schemeClr val="dk1"/>
              </a:solidFill>
            </a:endParaRPr>
          </a:p>
          <a:p>
            <a:pPr indent="-301625" lvl="2" marL="1371600" rtl="0" algn="l">
              <a:spcBef>
                <a:spcPts val="0"/>
              </a:spcBef>
              <a:spcAft>
                <a:spcPts val="0"/>
              </a:spcAft>
              <a:buClr>
                <a:schemeClr val="dk1"/>
              </a:buClr>
              <a:buSzPts val="1150"/>
              <a:buChar char="●"/>
            </a:pPr>
            <a:r>
              <a:rPr lang="en" sz="1150">
                <a:solidFill>
                  <a:schemeClr val="dk1"/>
                </a:solidFill>
              </a:rPr>
              <a:t>NSOF authentication for restricted endpoints (REQ-NS-174)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4E5F5"/>
            </a:gs>
            <a:gs pos="100000">
              <a:srgbClr val="70A4D5"/>
            </a:gs>
          </a:gsLst>
          <a:path path="circle">
            <a:fillToRect b="50%" l="50%" r="50%" t="50%"/>
          </a:path>
          <a:tileRect/>
        </a:gradFill>
      </p:bgPr>
    </p:bg>
    <p:spTree>
      <p:nvGrpSpPr>
        <p:cNvPr id="187" name="Shape 187"/>
        <p:cNvGrpSpPr/>
        <p:nvPr/>
      </p:nvGrpSpPr>
      <p:grpSpPr>
        <a:xfrm>
          <a:off x="0" y="0"/>
          <a:ext cx="0" cy="0"/>
          <a:chOff x="0" y="0"/>
          <a:chExt cx="0" cy="0"/>
        </a:xfrm>
      </p:grpSpPr>
      <p:pic>
        <p:nvPicPr>
          <p:cNvPr id="188" name="Google Shape;188;p35" title="StoreFrontComprehensive.drawio.png"/>
          <p:cNvPicPr preferRelativeResize="0"/>
          <p:nvPr/>
        </p:nvPicPr>
        <p:blipFill>
          <a:blip r:embed="rId3">
            <a:alphaModFix/>
          </a:blip>
          <a:stretch>
            <a:fillRect/>
          </a:stretch>
        </p:blipFill>
        <p:spPr>
          <a:xfrm>
            <a:off x="152400" y="1792713"/>
            <a:ext cx="8839204" cy="1558082"/>
          </a:xfrm>
          <a:prstGeom prst="rect">
            <a:avLst/>
          </a:prstGeom>
          <a:noFill/>
          <a:ln>
            <a:noFill/>
          </a:ln>
        </p:spPr>
      </p:pic>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Comprehensive Overview Persona to AI to Endpoint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